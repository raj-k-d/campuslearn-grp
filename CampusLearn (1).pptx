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</p:sldIdLst>
  <p:sldSz cx="9144000" cy="6858000" type="screen4x3"/>
  <p:notesSz cx="9144000" cy="6858000"/>
  <p:embeddedFontLst>
    <p:embeddedFont>
      <p:font typeface="Century Schoolbook" panose="02040604050505020304" pitchFamily="18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2" pos="576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guATwLBPAuOsgfyrv/xwC2db7U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CB3F4C0-F2E8-4320-A34B-0B094AA10944}">
  <a:tblStyle styleId="{6CB3F4C0-F2E8-4320-A34B-0B094AA1094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7"/>
      </p:cViewPr>
      <p:guideLst>
        <p:guide pos="576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4475040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" name="Google Shape;4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5cc8714c89_0_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" name="Google Shape;54;g5cc8714c89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5cc8714c89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41" name="Google Shape;141;g5cc8714c89_2_3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50" name="Google Shape;150;p1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8"/>
          <p:cNvSpPr txBox="1">
            <a:spLocks noGrp="1"/>
          </p:cNvSpPr>
          <p:nvPr>
            <p:ph type="title"/>
          </p:nvPr>
        </p:nvSpPr>
        <p:spPr>
          <a:xfrm>
            <a:off x="1753870" y="482930"/>
            <a:ext cx="5636259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>
                <a:solidFill>
                  <a:schemeClr val="hlink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8"/>
          <p:cNvSpPr txBox="1">
            <a:spLocks noGrp="1"/>
          </p:cNvSpPr>
          <p:nvPr>
            <p:ph type="body" idx="1"/>
          </p:nvPr>
        </p:nvSpPr>
        <p:spPr>
          <a:xfrm>
            <a:off x="535940" y="1570180"/>
            <a:ext cx="8073390" cy="3409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8"/>
          <p:cNvSpPr txBox="1">
            <a:spLocks noGrp="1"/>
          </p:cNvSpPr>
          <p:nvPr>
            <p:ph type="ftr" idx="11"/>
          </p:nvPr>
        </p:nvSpPr>
        <p:spPr>
          <a:xfrm>
            <a:off x="1379347" y="5917197"/>
            <a:ext cx="7220584" cy="7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>
                <a:solidFill>
                  <a:srgbClr val="00006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8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8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9"/>
          <p:cNvSpPr txBox="1">
            <a:spLocks noGrp="1"/>
          </p:cNvSpPr>
          <p:nvPr>
            <p:ph type="ctrTitle"/>
          </p:nvPr>
        </p:nvSpPr>
        <p:spPr>
          <a:xfrm>
            <a:off x="803554" y="214706"/>
            <a:ext cx="7536891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>
                <a:solidFill>
                  <a:schemeClr val="hlink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9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9"/>
          <p:cNvSpPr txBox="1">
            <a:spLocks noGrp="1"/>
          </p:cNvSpPr>
          <p:nvPr>
            <p:ph type="ftr" idx="11"/>
          </p:nvPr>
        </p:nvSpPr>
        <p:spPr>
          <a:xfrm>
            <a:off x="1379347" y="5917197"/>
            <a:ext cx="7220584" cy="7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>
                <a:solidFill>
                  <a:srgbClr val="00006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9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9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0"/>
          <p:cNvSpPr txBox="1">
            <a:spLocks noGrp="1"/>
          </p:cNvSpPr>
          <p:nvPr>
            <p:ph type="title"/>
          </p:nvPr>
        </p:nvSpPr>
        <p:spPr>
          <a:xfrm>
            <a:off x="1753870" y="482930"/>
            <a:ext cx="5636259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>
                <a:solidFill>
                  <a:schemeClr val="hlink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0"/>
          <p:cNvSpPr txBox="1">
            <a:spLocks noGrp="1"/>
          </p:cNvSpPr>
          <p:nvPr>
            <p:ph type="ftr" idx="11"/>
          </p:nvPr>
        </p:nvSpPr>
        <p:spPr>
          <a:xfrm>
            <a:off x="1379347" y="5917197"/>
            <a:ext cx="7220584" cy="7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>
                <a:solidFill>
                  <a:srgbClr val="00006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0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0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1"/>
          <p:cNvSpPr txBox="1">
            <a:spLocks noGrp="1"/>
          </p:cNvSpPr>
          <p:nvPr>
            <p:ph type="ftr" idx="11"/>
          </p:nvPr>
        </p:nvSpPr>
        <p:spPr>
          <a:xfrm>
            <a:off x="1379347" y="5917197"/>
            <a:ext cx="7220584" cy="7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>
                <a:solidFill>
                  <a:srgbClr val="00006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1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1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2"/>
          <p:cNvSpPr txBox="1">
            <a:spLocks noGrp="1"/>
          </p:cNvSpPr>
          <p:nvPr>
            <p:ph type="title"/>
          </p:nvPr>
        </p:nvSpPr>
        <p:spPr>
          <a:xfrm>
            <a:off x="1753870" y="482930"/>
            <a:ext cx="5636259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>
                <a:solidFill>
                  <a:schemeClr val="hlink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2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2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ftr" idx="11"/>
          </p:nvPr>
        </p:nvSpPr>
        <p:spPr>
          <a:xfrm>
            <a:off x="1379347" y="5917197"/>
            <a:ext cx="7220584" cy="7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>
                <a:solidFill>
                  <a:srgbClr val="00006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2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/>
          <p:nvPr/>
        </p:nvSpPr>
        <p:spPr>
          <a:xfrm>
            <a:off x="0" y="5816578"/>
            <a:ext cx="1062142" cy="1041418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27"/>
          <p:cNvSpPr/>
          <p:nvPr/>
        </p:nvSpPr>
        <p:spPr>
          <a:xfrm>
            <a:off x="0" y="5638800"/>
            <a:ext cx="9144000" cy="152400"/>
          </a:xfrm>
          <a:custGeom>
            <a:avLst/>
            <a:gdLst/>
            <a:ahLst/>
            <a:cxnLst/>
            <a:rect l="l" t="t" r="r" b="b"/>
            <a:pathLst>
              <a:path w="9144000" h="152400" extrusionOk="0">
                <a:moveTo>
                  <a:pt x="0" y="152400"/>
                </a:moveTo>
                <a:lnTo>
                  <a:pt x="9144000" y="152400"/>
                </a:lnTo>
                <a:lnTo>
                  <a:pt x="91440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00006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27"/>
          <p:cNvSpPr/>
          <p:nvPr/>
        </p:nvSpPr>
        <p:spPr>
          <a:xfrm>
            <a:off x="0" y="5638800"/>
            <a:ext cx="9144000" cy="152400"/>
          </a:xfrm>
          <a:custGeom>
            <a:avLst/>
            <a:gdLst/>
            <a:ahLst/>
            <a:cxnLst/>
            <a:rect l="l" t="t" r="r" b="b"/>
            <a:pathLst>
              <a:path w="9144000" h="152400" extrusionOk="0">
                <a:moveTo>
                  <a:pt x="0" y="152400"/>
                </a:moveTo>
                <a:lnTo>
                  <a:pt x="9144000" y="152400"/>
                </a:lnTo>
                <a:lnTo>
                  <a:pt x="91440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9;p27"/>
          <p:cNvSpPr txBox="1">
            <a:spLocks noGrp="1"/>
          </p:cNvSpPr>
          <p:nvPr>
            <p:ph type="title"/>
          </p:nvPr>
        </p:nvSpPr>
        <p:spPr>
          <a:xfrm>
            <a:off x="1753870" y="482930"/>
            <a:ext cx="5636259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1" i="0" u="none" strike="noStrike" cap="none">
                <a:solidFill>
                  <a:schemeClr val="hlink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7"/>
          <p:cNvSpPr txBox="1">
            <a:spLocks noGrp="1"/>
          </p:cNvSpPr>
          <p:nvPr>
            <p:ph type="body" idx="1"/>
          </p:nvPr>
        </p:nvSpPr>
        <p:spPr>
          <a:xfrm>
            <a:off x="535940" y="1570180"/>
            <a:ext cx="8073390" cy="3409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7"/>
          <p:cNvSpPr txBox="1">
            <a:spLocks noGrp="1"/>
          </p:cNvSpPr>
          <p:nvPr>
            <p:ph type="ftr" idx="11"/>
          </p:nvPr>
        </p:nvSpPr>
        <p:spPr>
          <a:xfrm>
            <a:off x="1379347" y="5917197"/>
            <a:ext cx="7220584" cy="7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rgbClr val="00006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7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7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Online_Learning_Management_Systems_in_Higher_Education" TargetMode="External"/><Relationship Id="rId7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learningindustry.com/importance-of-online-learning-portals-in-education" TargetMode="External"/><Relationship Id="rId5" Type="http://schemas.openxmlformats.org/officeDocument/2006/relationships/hyperlink" Target="https://www.sciencedirect.com/science/article/pii/S1877042814050212" TargetMode="External"/><Relationship Id="rId4" Type="http://schemas.openxmlformats.org/officeDocument/2006/relationships/hyperlink" Target="https://ieeexplore.ieee.org/document/8763452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 txBox="1"/>
          <p:nvPr/>
        </p:nvSpPr>
        <p:spPr>
          <a:xfrm>
            <a:off x="1280160" y="5943053"/>
            <a:ext cx="7496601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Engineering, </a:t>
            </a:r>
            <a:r>
              <a:rPr lang="en-US" sz="1800" b="1" i="1" u="none" strike="noStrike" cap="none" dirty="0" err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MITSoC</a:t>
            </a:r>
            <a:r>
              <a:rPr lang="en-US" sz="1800" b="1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Loni Kalbhor</a:t>
            </a:r>
            <a:endParaRPr sz="1800" b="1" i="1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2514600" y="3840480"/>
            <a:ext cx="3733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9762" marR="0" lvl="0" indent="-5191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 txBox="1">
            <a:spLocks noGrp="1"/>
          </p:cNvSpPr>
          <p:nvPr>
            <p:ph type="title"/>
          </p:nvPr>
        </p:nvSpPr>
        <p:spPr>
          <a:xfrm>
            <a:off x="267300" y="1951900"/>
            <a:ext cx="8609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3600" dirty="0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 lang="en-IN" sz="3600" dirty="0">
                <a:solidFill>
                  <a:schemeClr val="bg2"/>
                </a:solidFill>
              </a:rPr>
              <a:t>CampusLearn</a:t>
            </a:r>
            <a:r>
              <a:rPr lang="en-US" sz="3600" dirty="0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</a:t>
            </a:r>
            <a:endParaRPr dirty="0">
              <a:solidFill>
                <a:srgbClr val="0737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822787" y="3387039"/>
            <a:ext cx="749670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Raj Dugane(ADT23SOCBD141 )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Trusha </a:t>
            </a:r>
            <a:r>
              <a:rPr lang="en-US" sz="1600" b="1" dirty="0" err="1">
                <a:latin typeface="Times New Roman"/>
                <a:ea typeface="Times New Roman"/>
                <a:cs typeface="Times New Roman"/>
                <a:sym typeface="Times New Roman"/>
              </a:rPr>
              <a:t>Salode</a:t>
            </a: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 (ADT23SOCBD077)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Guided by</a:t>
            </a:r>
            <a:endParaRPr sz="16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Prof. Abhijeet </a:t>
            </a:r>
            <a:r>
              <a:rPr lang="en-US" sz="1600" b="1" dirty="0" err="1">
                <a:latin typeface="Times New Roman"/>
                <a:ea typeface="Times New Roman"/>
                <a:cs typeface="Times New Roman"/>
                <a:sym typeface="Times New Roman"/>
              </a:rPr>
              <a:t>Cholke</a:t>
            </a:r>
            <a:endParaRPr sz="16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" name="Google Shape;50;p2"/>
          <p:cNvSpPr txBox="1"/>
          <p:nvPr/>
        </p:nvSpPr>
        <p:spPr>
          <a:xfrm>
            <a:off x="2878691" y="555528"/>
            <a:ext cx="3384884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84F63B-0BD0-C15C-F5C3-05BB9B155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12966"/>
            <a:ext cx="1506682" cy="10204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5cc8714c89_0_4"/>
          <p:cNvSpPr txBox="1">
            <a:spLocks noGrp="1"/>
          </p:cNvSpPr>
          <p:nvPr>
            <p:ph type="title"/>
          </p:nvPr>
        </p:nvSpPr>
        <p:spPr>
          <a:xfrm>
            <a:off x="830592" y="408046"/>
            <a:ext cx="6932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 dirty="0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 sz="2800" dirty="0">
              <a:solidFill>
                <a:srgbClr val="073763"/>
              </a:solidFill>
            </a:endParaRPr>
          </a:p>
        </p:txBody>
      </p:sp>
      <p:sp>
        <p:nvSpPr>
          <p:cNvPr id="57" name="Google Shape;57;g5cc8714c89_0_4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59" name="Google Shape;59;g5cc8714c89_0_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g5cc8714c89_0_4"/>
          <p:cNvSpPr txBox="1"/>
          <p:nvPr/>
        </p:nvSpPr>
        <p:spPr>
          <a:xfrm>
            <a:off x="830590" y="1284140"/>
            <a:ext cx="7848600" cy="47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 and Technology used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  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89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46;g5cc8714c89_2_35">
            <a:extLst>
              <a:ext uri="{FF2B5EF4-FFF2-40B4-BE49-F238E27FC236}">
                <a16:creationId xmlns:a16="http://schemas.microsoft.com/office/drawing/2014/main" id="{3C52F66E-25A6-ECD2-3DAA-79CDDF08C44D}"/>
              </a:ext>
            </a:extLst>
          </p:cNvPr>
          <p:cNvSpPr txBox="1"/>
          <p:nvPr/>
        </p:nvSpPr>
        <p:spPr>
          <a:xfrm>
            <a:off x="1379346" y="6055962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Engineering, </a:t>
            </a:r>
            <a:r>
              <a:rPr lang="en-US" sz="1800" b="1" i="1" u="none" strike="noStrike" cap="none" dirty="0" err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MITSoC</a:t>
            </a:r>
            <a:r>
              <a:rPr lang="en-US" sz="1800" b="1" i="1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Loni Kalbhor</a:t>
            </a:r>
            <a:endParaRPr sz="1800" b="1" i="1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EA4F50-1D1C-2F9D-9C59-C21BE80C6A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812966"/>
            <a:ext cx="1506682" cy="10204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66" name="Google Shape;66;p4"/>
          <p:cNvSpPr txBox="1"/>
          <p:nvPr/>
        </p:nvSpPr>
        <p:spPr>
          <a:xfrm>
            <a:off x="417107" y="224589"/>
            <a:ext cx="80103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r>
              <a:rPr lang="en-US" sz="2800" b="0" i="0" u="none" strike="noStrike" cap="none" dirty="0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 dirty="0">
              <a:solidFill>
                <a:srgbClr val="073763"/>
              </a:solidFill>
            </a:endParaRPr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4"/>
          <p:cNvSpPr txBox="1"/>
          <p:nvPr/>
        </p:nvSpPr>
        <p:spPr>
          <a:xfrm>
            <a:off x="489450" y="1124667"/>
            <a:ext cx="7937957" cy="184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CampusLearn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web-based learning platform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students.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→ semester → subject-wise materials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Includes notes, PPTs, videos, and discussions.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with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modern React architecture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146;g5cc8714c89_2_35">
            <a:extLst>
              <a:ext uri="{FF2B5EF4-FFF2-40B4-BE49-F238E27FC236}">
                <a16:creationId xmlns:a16="http://schemas.microsoft.com/office/drawing/2014/main" id="{CF5BDD33-0FF9-4CA9-8498-A72735AC4887}"/>
              </a:ext>
            </a:extLst>
          </p:cNvPr>
          <p:cNvSpPr txBox="1"/>
          <p:nvPr/>
        </p:nvSpPr>
        <p:spPr>
          <a:xfrm>
            <a:off x="1379346" y="6055962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Engineering, </a:t>
            </a:r>
            <a:r>
              <a:rPr lang="en-US" sz="1800" b="1" i="1" u="none" strike="noStrike" cap="none" dirty="0" err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MITSoC</a:t>
            </a:r>
            <a:r>
              <a:rPr lang="en-US" sz="1800" b="1" i="1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Loni Kalbhor</a:t>
            </a:r>
            <a:endParaRPr sz="1800" b="1" i="1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88F716-6033-EAF6-6705-33EBFF2FD4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812966"/>
            <a:ext cx="1506682" cy="10204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76" name="Google Shape;76;p6"/>
          <p:cNvSpPr txBox="1"/>
          <p:nvPr/>
        </p:nvSpPr>
        <p:spPr>
          <a:xfrm>
            <a:off x="499927" y="221106"/>
            <a:ext cx="80103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r>
              <a:rPr lang="en-US" sz="2800" b="0" i="0" u="none" strike="noStrike" cap="none" dirty="0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800" dirty="0">
              <a:solidFill>
                <a:srgbClr val="073763"/>
              </a:solidFill>
            </a:endParaRPr>
          </a:p>
        </p:txBody>
      </p:sp>
      <p:pic>
        <p:nvPicPr>
          <p:cNvPr id="78" name="Google Shape;7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6"/>
          <p:cNvSpPr txBox="1"/>
          <p:nvPr/>
        </p:nvSpPr>
        <p:spPr>
          <a:xfrm>
            <a:off x="83730" y="799206"/>
            <a:ext cx="8531526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499927" y="2023357"/>
            <a:ext cx="80103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r>
              <a:rPr lang="en-US" sz="2800" b="0" i="0" u="none" strike="noStrike" cap="none" dirty="0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800" dirty="0">
              <a:solidFill>
                <a:srgbClr val="073763"/>
              </a:solidFill>
            </a:endParaRPr>
          </a:p>
        </p:txBody>
      </p:sp>
      <p:sp>
        <p:nvSpPr>
          <p:cNvPr id="2" name="Google Shape;146;g5cc8714c89_2_35">
            <a:extLst>
              <a:ext uri="{FF2B5EF4-FFF2-40B4-BE49-F238E27FC236}">
                <a16:creationId xmlns:a16="http://schemas.microsoft.com/office/drawing/2014/main" id="{6F91FC2D-E2FE-91A7-A0A5-AF9609ECC807}"/>
              </a:ext>
            </a:extLst>
          </p:cNvPr>
          <p:cNvSpPr txBox="1"/>
          <p:nvPr/>
        </p:nvSpPr>
        <p:spPr>
          <a:xfrm>
            <a:off x="1379346" y="6055962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Engineering, </a:t>
            </a:r>
            <a:r>
              <a:rPr lang="en-US" sz="1800" b="1" i="1" u="none" strike="noStrike" cap="none" dirty="0" err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MITSoC</a:t>
            </a:r>
            <a:r>
              <a:rPr lang="en-US" sz="1800" b="1" i="1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Loni Kalbhor</a:t>
            </a:r>
            <a:endParaRPr sz="1800" b="1" i="1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8675CE-992B-16BD-B2A8-00CC84A283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812966"/>
            <a:ext cx="1506682" cy="1020451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6217271F-DB93-9487-30A5-53268EEEF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927" y="875522"/>
            <a:ext cx="592021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Study materials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scattered across WhatsApp, Drive, etc.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proper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organization or easy access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Difficult for students to find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relevant and updated content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D8AC319-DBDC-46F5-74D7-6EDC0DB0E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927" y="2828836"/>
            <a:ext cx="474681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Centralize all study materials in one platform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structured access (Course → Subject)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 &amp; admin roles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learning efficiency and accessibility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87" name="Google Shape;87;p8"/>
          <p:cNvSpPr txBox="1"/>
          <p:nvPr/>
        </p:nvSpPr>
        <p:spPr>
          <a:xfrm>
            <a:off x="377773" y="193634"/>
            <a:ext cx="80103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</a:t>
            </a:r>
            <a:r>
              <a:rPr lang="en-US" sz="28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T</a:t>
            </a:r>
            <a:r>
              <a:rPr lang="en-US" sz="28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echnology Used</a:t>
            </a:r>
            <a:r>
              <a:rPr lang="en-US" sz="2800" b="0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800" dirty="0"/>
          </a:p>
        </p:txBody>
      </p:sp>
      <p:pic>
        <p:nvPicPr>
          <p:cNvPr id="89" name="Google Shape;8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8"/>
          <p:cNvSpPr txBox="1"/>
          <p:nvPr/>
        </p:nvSpPr>
        <p:spPr>
          <a:xfrm>
            <a:off x="200792" y="1269114"/>
            <a:ext cx="3899259" cy="2222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&amp; Admin Login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Subject-wise Materials (Notes, PPT, Videos)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Search &amp; Filter System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Discussion Forum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Admin Dashboard &amp; Analytics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Fully Responsive UI</a:t>
            </a: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" name="Google Shape;146;g5cc8714c89_2_35">
            <a:extLst>
              <a:ext uri="{FF2B5EF4-FFF2-40B4-BE49-F238E27FC236}">
                <a16:creationId xmlns:a16="http://schemas.microsoft.com/office/drawing/2014/main" id="{5E36B60A-BDCD-8454-534A-74202B513057}"/>
              </a:ext>
            </a:extLst>
          </p:cNvPr>
          <p:cNvSpPr txBox="1"/>
          <p:nvPr/>
        </p:nvSpPr>
        <p:spPr>
          <a:xfrm>
            <a:off x="1379346" y="6055962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Engineering, </a:t>
            </a:r>
            <a:r>
              <a:rPr lang="en-US" sz="1800" b="1" i="1" u="none" strike="noStrike" cap="none" dirty="0" err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MITSoC</a:t>
            </a:r>
            <a:r>
              <a:rPr lang="en-US" sz="1800" b="1" i="1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Loni Kalbhor</a:t>
            </a:r>
            <a:endParaRPr sz="1800" b="1" i="1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656040-91EC-4B27-A01E-A4D83C5A42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812966"/>
            <a:ext cx="1506682" cy="1020451"/>
          </a:xfrm>
          <a:prstGeom prst="rect">
            <a:avLst/>
          </a:prstGeom>
        </p:spPr>
      </p:pic>
      <p:sp>
        <p:nvSpPr>
          <p:cNvPr id="7" name="Google Shape;90;p8">
            <a:extLst>
              <a:ext uri="{FF2B5EF4-FFF2-40B4-BE49-F238E27FC236}">
                <a16:creationId xmlns:a16="http://schemas.microsoft.com/office/drawing/2014/main" id="{12E6D1A6-3E94-B55E-B59E-D92A3709BAB1}"/>
              </a:ext>
            </a:extLst>
          </p:cNvPr>
          <p:cNvSpPr txBox="1"/>
          <p:nvPr/>
        </p:nvSpPr>
        <p:spPr>
          <a:xfrm>
            <a:off x="4488814" y="1269114"/>
            <a:ext cx="3899259" cy="1692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 React.js + Vite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Styling: Tailwind CSS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Supabase</a:t>
            </a: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Routing: React Router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00" name="Google Shape;100;p9"/>
          <p:cNvSpPr txBox="1"/>
          <p:nvPr/>
        </p:nvSpPr>
        <p:spPr>
          <a:xfrm>
            <a:off x="405519" y="-17970"/>
            <a:ext cx="8010213" cy="57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r>
              <a:rPr lang="en-US" sz="2200" b="0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</p:txBody>
      </p:sp>
      <p:pic>
        <p:nvPicPr>
          <p:cNvPr id="102" name="Google Shape;102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3" name="Google Shape;103;p9"/>
          <p:cNvGraphicFramePr/>
          <p:nvPr>
            <p:extLst>
              <p:ext uri="{D42A27DB-BD31-4B8C-83A1-F6EECF244321}">
                <p14:modId xmlns:p14="http://schemas.microsoft.com/office/powerpoint/2010/main" val="546006998"/>
              </p:ext>
            </p:extLst>
          </p:nvPr>
        </p:nvGraphicFramePr>
        <p:xfrm>
          <a:off x="249350" y="560055"/>
          <a:ext cx="8616413" cy="4754760"/>
        </p:xfrm>
        <a:graphic>
          <a:graphicData uri="http://schemas.openxmlformats.org/drawingml/2006/table">
            <a:tbl>
              <a:tblPr>
                <a:noFill/>
                <a:tableStyleId>{6CB3F4C0-F2E8-4320-A34B-0B094AA10944}</a:tableStyleId>
              </a:tblPr>
              <a:tblGrid>
                <a:gridCol w="609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8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8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3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3650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Sr. no</a:t>
                      </a:r>
                      <a:endParaRPr sz="1200" b="1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Literature Title</a:t>
                      </a:r>
                      <a:endParaRPr sz="1200" b="1" dirty="0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Author</a:t>
                      </a:r>
                      <a:endParaRPr sz="1200" b="1" dirty="0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Findings</a:t>
                      </a:r>
                      <a:endParaRPr sz="1200" b="1" dirty="0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2875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1.</a:t>
                      </a:r>
                      <a:endParaRPr sz="1200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 Learning Management Systems: Adoption and Challenges in Higher Education</a:t>
                      </a:r>
                      <a:endParaRPr sz="14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Kumar, A., &amp; Gupta, R.</a:t>
                      </a:r>
                      <a:endParaRPr sz="14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15240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Calibri"/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LMS platforms centralize learning materials, improving student engagement.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Key challenges include low adoption due to poor user experience.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Simplified design and responsive UI enhance accessibility..</a:t>
                      </a:r>
                      <a:endParaRPr sz="1400" dirty="0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5025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2.</a:t>
                      </a:r>
                      <a:endParaRPr sz="1200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Impact of Digital Platforms on Academic Resource Sharing</a:t>
                      </a:r>
                      <a:endParaRPr sz="14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Mehta, S., &amp; Verma, K.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5240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Calibri"/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Digital repositories help students access updated materials efficiently.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Real-time data synchronization improves learning continuity.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Data organization by course and subject reduces redundancy.</a:t>
                      </a:r>
                      <a:endParaRPr sz="1400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7325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3.</a:t>
                      </a:r>
                      <a:endParaRPr sz="1200" dirty="0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 of Web Technologies in Enhancing Higher Education</a:t>
                      </a:r>
                      <a:endParaRPr sz="14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Sharma, N., &amp; Patel, 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5240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Calibri"/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Integration of web-based tools promotes collaboration among students and faculty.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Cloud storage and real-time databases improve scalability and reliability.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Responsive design supports cross-device learning (mobile + desktop).</a:t>
                      </a:r>
                      <a:endParaRPr sz="1400" i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Google Shape;146;g5cc8714c89_2_35">
            <a:extLst>
              <a:ext uri="{FF2B5EF4-FFF2-40B4-BE49-F238E27FC236}">
                <a16:creationId xmlns:a16="http://schemas.microsoft.com/office/drawing/2014/main" id="{E15D27E7-A1D8-142B-369D-5FF336F906E2}"/>
              </a:ext>
            </a:extLst>
          </p:cNvPr>
          <p:cNvSpPr txBox="1"/>
          <p:nvPr/>
        </p:nvSpPr>
        <p:spPr>
          <a:xfrm>
            <a:off x="1379346" y="6045571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Engineering, </a:t>
            </a:r>
            <a:r>
              <a:rPr lang="en-US" sz="1800" b="1" i="1" u="none" strike="noStrike" cap="none" dirty="0" err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MITSoC</a:t>
            </a:r>
            <a:r>
              <a:rPr lang="en-US" sz="1800" b="1" i="1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Loni Kalbhor</a:t>
            </a:r>
            <a:endParaRPr sz="1800" b="1" i="1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DF9C1D-AA8D-3D7B-DE95-8CB4EDEBBE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812966"/>
            <a:ext cx="1506682" cy="10204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7</a:t>
            </a:fld>
            <a:endParaRPr dirty="0"/>
          </a:p>
        </p:txBody>
      </p:sp>
      <p:sp>
        <p:nvSpPr>
          <p:cNvPr id="118" name="Google Shape;118;p12"/>
          <p:cNvSpPr txBox="1"/>
          <p:nvPr/>
        </p:nvSpPr>
        <p:spPr>
          <a:xfrm>
            <a:off x="499927" y="107172"/>
            <a:ext cx="8010213" cy="57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Implementation</a:t>
            </a:r>
            <a:r>
              <a:rPr lang="en-US" sz="2200" b="0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</p:txBody>
      </p:sp>
      <p:pic>
        <p:nvPicPr>
          <p:cNvPr id="120" name="Google Shape;120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46;g5cc8714c89_2_35">
            <a:extLst>
              <a:ext uri="{FF2B5EF4-FFF2-40B4-BE49-F238E27FC236}">
                <a16:creationId xmlns:a16="http://schemas.microsoft.com/office/drawing/2014/main" id="{2799E06A-6B1A-C235-54C2-F264D599E8FF}"/>
              </a:ext>
            </a:extLst>
          </p:cNvPr>
          <p:cNvSpPr txBox="1"/>
          <p:nvPr/>
        </p:nvSpPr>
        <p:spPr>
          <a:xfrm>
            <a:off x="1379346" y="6055962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Engineering, </a:t>
            </a:r>
            <a:r>
              <a:rPr lang="en-US" sz="1800" b="1" i="1" u="none" strike="noStrike" cap="none" dirty="0" err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MITSoC</a:t>
            </a:r>
            <a:r>
              <a:rPr lang="en-US" sz="1800" b="1" i="1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Loni Kalbhor</a:t>
            </a:r>
            <a:endParaRPr sz="1800" b="1" i="1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5E6EBD-D592-1AF8-2B59-853447004C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812966"/>
            <a:ext cx="1506682" cy="1020451"/>
          </a:xfrm>
          <a:prstGeom prst="rect">
            <a:avLst/>
          </a:prstGeom>
        </p:spPr>
      </p:pic>
      <p:pic>
        <p:nvPicPr>
          <p:cNvPr id="2" name="Picture 1" descr="A diagram of a software system&#10;&#10;AI-generated content may be incorrect.">
            <a:extLst>
              <a:ext uri="{FF2B5EF4-FFF2-40B4-BE49-F238E27FC236}">
                <a16:creationId xmlns:a16="http://schemas.microsoft.com/office/drawing/2014/main" id="{8D9BA6A2-13E4-6676-4A46-3A6B524CB7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9346" y="841700"/>
            <a:ext cx="5708346" cy="39155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26" name="Google Shape;126;p13"/>
          <p:cNvSpPr txBox="1"/>
          <p:nvPr/>
        </p:nvSpPr>
        <p:spPr>
          <a:xfrm>
            <a:off x="208200" y="224013"/>
            <a:ext cx="8010213" cy="57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r>
              <a:rPr lang="en-US" sz="2800" b="0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800" dirty="0"/>
          </a:p>
        </p:txBody>
      </p:sp>
      <p:sp>
        <p:nvSpPr>
          <p:cNvPr id="128" name="Google Shape;128;p13"/>
          <p:cNvSpPr txBox="1"/>
          <p:nvPr/>
        </p:nvSpPr>
        <p:spPr>
          <a:xfrm>
            <a:off x="261763" y="912466"/>
            <a:ext cx="8727600" cy="49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access to study materials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Organized academic content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admin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student experience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Poppins"/>
            </a:endParaRPr>
          </a:p>
        </p:txBody>
      </p:sp>
      <p:pic>
        <p:nvPicPr>
          <p:cNvPr id="129" name="Google Shape;129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46;g5cc8714c89_2_35">
            <a:extLst>
              <a:ext uri="{FF2B5EF4-FFF2-40B4-BE49-F238E27FC236}">
                <a16:creationId xmlns:a16="http://schemas.microsoft.com/office/drawing/2014/main" id="{6322E578-DFB1-39BB-AF80-B2BC7BB08A31}"/>
              </a:ext>
            </a:extLst>
          </p:cNvPr>
          <p:cNvSpPr txBox="1"/>
          <p:nvPr/>
        </p:nvSpPr>
        <p:spPr>
          <a:xfrm>
            <a:off x="1379346" y="6055962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Engineering, </a:t>
            </a:r>
            <a:r>
              <a:rPr lang="en-US" sz="1800" b="1" i="1" u="none" strike="noStrike" cap="none" dirty="0" err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MITSoC</a:t>
            </a:r>
            <a:r>
              <a:rPr lang="en-US" sz="1800" b="1" i="1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Loni Kalbhor</a:t>
            </a:r>
            <a:endParaRPr sz="1800" b="1" i="1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C649C9-BDAA-626D-E13E-BA8EED9E4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812966"/>
            <a:ext cx="1506682" cy="102045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404837" y="198638"/>
            <a:ext cx="8010213" cy="57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and Future Work</a:t>
            </a:r>
            <a:r>
              <a:rPr lang="en-US" sz="2200" b="0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</p:txBody>
      </p:sp>
      <p:pic>
        <p:nvPicPr>
          <p:cNvPr id="137" name="Google Shape;13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4"/>
          <p:cNvSpPr txBox="1"/>
          <p:nvPr/>
        </p:nvSpPr>
        <p:spPr>
          <a:xfrm>
            <a:off x="488343" y="1019659"/>
            <a:ext cx="7843200" cy="42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CampusLearn successfully addresses the problem of scattered educational resources by providing a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real-time, centralized, and user-friendly academic portal.</a:t>
            </a:r>
          </a:p>
          <a:p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future, the platform will: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upload verification system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resource recommendations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 forums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student interaction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mobile app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offline content access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CampusLearn sets the foundation for a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academic ecosystem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enhances learning efficiency and fosters collaboration.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Poppins"/>
            </a:endParaRPr>
          </a:p>
        </p:txBody>
      </p:sp>
      <p:sp>
        <p:nvSpPr>
          <p:cNvPr id="2" name="Google Shape;146;g5cc8714c89_2_35">
            <a:extLst>
              <a:ext uri="{FF2B5EF4-FFF2-40B4-BE49-F238E27FC236}">
                <a16:creationId xmlns:a16="http://schemas.microsoft.com/office/drawing/2014/main" id="{219128B5-6471-437E-8300-E543B929537B}"/>
              </a:ext>
            </a:extLst>
          </p:cNvPr>
          <p:cNvSpPr txBox="1"/>
          <p:nvPr/>
        </p:nvSpPr>
        <p:spPr>
          <a:xfrm>
            <a:off x="1379346" y="6055962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Engineering, </a:t>
            </a:r>
            <a:r>
              <a:rPr lang="en-US" sz="1800" b="1" i="1" u="none" strike="noStrike" cap="none" dirty="0" err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MITSoC</a:t>
            </a:r>
            <a:r>
              <a:rPr lang="en-US" sz="1800" b="1" i="1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Loni Kalbhor</a:t>
            </a:r>
            <a:endParaRPr sz="1800" b="1" i="1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46FF8E-970F-47CA-EB9A-C9C621C85A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812966"/>
            <a:ext cx="1506682" cy="10204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5cc8714c89_2_35"/>
          <p:cNvSpPr txBox="1">
            <a:spLocks noGrp="1"/>
          </p:cNvSpPr>
          <p:nvPr>
            <p:ph type="body" idx="1"/>
          </p:nvPr>
        </p:nvSpPr>
        <p:spPr>
          <a:xfrm>
            <a:off x="385361" y="904569"/>
            <a:ext cx="8495247" cy="4208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06400" lvl="0" indent="-406400" algn="just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</a:pPr>
            <a:r>
              <a:rPr lang="en-US" sz="14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https://www.researchgate.net/publication/Online_Learning_Management_Systems_in_Higher_Education</a:t>
            </a:r>
            <a:endParaRPr lang="en-US" sz="1400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06400" lvl="0" indent="-406400" algn="just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</a:pPr>
            <a:r>
              <a:rPr lang="en-US" sz="14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https://ieeexplore.ieee.org/document/8763452</a:t>
            </a:r>
            <a:endParaRPr lang="en-US" sz="1400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06400" lvl="0" indent="-406400" algn="just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</a:pPr>
            <a:r>
              <a:rPr lang="en-US" sz="14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https://www.sciencedirect.com/science/article/pii/S1877042814050212</a:t>
            </a:r>
            <a:endParaRPr lang="en-US" sz="1400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06400" lvl="0" indent="-406400" algn="just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</a:pPr>
            <a:r>
              <a:rPr lang="en-US" sz="14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/>
              </a:rPr>
              <a:t>https://elearningindustry.com/importance-of-online-learning-portals-in-education</a:t>
            </a:r>
            <a:endParaRPr lang="en-US" sz="1400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06400" lvl="0" indent="-406400" algn="just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</a:pPr>
            <a:endParaRPr lang="en-US" sz="1400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06400" lvl="0" indent="-406400" algn="just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</a:pPr>
            <a:endParaRPr lang="en-US" sz="1400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g5cc8714c89_2_35"/>
          <p:cNvSpPr txBox="1"/>
          <p:nvPr/>
        </p:nvSpPr>
        <p:spPr>
          <a:xfrm>
            <a:off x="385361" y="24583"/>
            <a:ext cx="2874298" cy="72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2800" dirty="0"/>
          </a:p>
        </p:txBody>
      </p:sp>
      <p:sp>
        <p:nvSpPr>
          <p:cNvPr id="145" name="Google Shape;145;g5cc8714c89_2_35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46" name="Google Shape;146;g5cc8714c89_2_35"/>
          <p:cNvSpPr txBox="1"/>
          <p:nvPr/>
        </p:nvSpPr>
        <p:spPr>
          <a:xfrm>
            <a:off x="1213092" y="5953431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1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46;g5cc8714c89_2_35">
            <a:extLst>
              <a:ext uri="{FF2B5EF4-FFF2-40B4-BE49-F238E27FC236}">
                <a16:creationId xmlns:a16="http://schemas.microsoft.com/office/drawing/2014/main" id="{FAB93372-EA88-09AF-173F-87419AF105A4}"/>
              </a:ext>
            </a:extLst>
          </p:cNvPr>
          <p:cNvSpPr txBox="1"/>
          <p:nvPr/>
        </p:nvSpPr>
        <p:spPr>
          <a:xfrm>
            <a:off x="1308047" y="6041491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Engineering, </a:t>
            </a:r>
            <a:r>
              <a:rPr lang="en-US" sz="1800" b="1" i="1" u="none" strike="noStrike" cap="none" dirty="0" err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MITSoC</a:t>
            </a:r>
            <a:r>
              <a:rPr lang="en-US" sz="1800" b="1" i="1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Loni Kalbhor</a:t>
            </a:r>
            <a:endParaRPr sz="1800" b="1" i="1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5A9FBC-C514-096B-5A41-AB0710F337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812966"/>
            <a:ext cx="1506682" cy="10204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1308047" y="6041491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Engineering, </a:t>
            </a:r>
            <a:r>
              <a:rPr lang="en-US" sz="1800" b="1" i="1" u="none" strike="noStrike" cap="none" dirty="0" err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MITSoC</a:t>
            </a:r>
            <a:r>
              <a:rPr lang="en-US" sz="1800" b="1" i="1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Loni Kalbhor</a:t>
            </a:r>
            <a:endParaRPr sz="1800" b="1" i="1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1792145" y="2374230"/>
            <a:ext cx="533055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6B8920-5EEA-FCE8-347E-A568BE76F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12966"/>
            <a:ext cx="1506682" cy="10204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810</TotalTime>
  <Words>634</Words>
  <Application>Microsoft Office PowerPoint</Application>
  <PresentationFormat>On-screen Show (4:3)</PresentationFormat>
  <Paragraphs>101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Times New Roman</vt:lpstr>
      <vt:lpstr>Calibri</vt:lpstr>
      <vt:lpstr>Century Schoolbook</vt:lpstr>
      <vt:lpstr>Arial</vt:lpstr>
      <vt:lpstr>Office Theme</vt:lpstr>
      <vt:lpstr>“CampusLearn”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“CampusLearn”</dc:title>
  <dc:creator>Hp</dc:creator>
  <cp:lastModifiedBy>raj</cp:lastModifiedBy>
  <cp:revision>21</cp:revision>
  <dcterms:created xsi:type="dcterms:W3CDTF">2018-12-06T11:05:22Z</dcterms:created>
  <dcterms:modified xsi:type="dcterms:W3CDTF">2026-10-10T08:40:10Z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2017-02-01T00:00:00Z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2018-12-06T00:00:00Z</vt:filetime>
  </property>
</Properties>
</file>